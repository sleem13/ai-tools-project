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3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repository and training artifacts (local workspace).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artifact: models/detection/master_plate_yolo11_20260727_132515/val_batch0_pred.jpg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https://doi.org/10.1016/j.aej.2013.02.005</a:t>
            </a:r>
          </a:p>
          <a:p>
            <a:r>
              <a:t>https://arxiv.org/abs/1506.02640</a:t>
            </a:r>
          </a:p>
          <a:p>
            <a:r>
              <a:t>https://arxiv.org/abs/1703.07330</a:t>
            </a:r>
          </a:p>
          <a:p>
            <a:r>
              <a:t>https://arxiv.org/abs/1507.05717</a:t>
            </a:r>
          </a:p>
          <a:p>
            <a:r>
              <a:t>https://doi.org/10.1109/ACIRS55390.2022.9845514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reports: reports/eda/dataset_summary.md; reports/splits/split_manifest.json; reports/harmonization/harmonization_metadata.json.</a:t>
            </a:r>
          </a:p>
          <a:p>
            <a:r>
              <a:t>Character dataset metadata: https://universe.roboflow.com/alyalsayed-vyx6g/egyptian-car-plates/dataset/13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https://docs.ultralytics.com/models/yolo11/</a:t>
            </a:r>
          </a:p>
          <a:p>
            <a:r>
              <a:t>https://arxiv.org/abs/1507.05717</a:t>
            </a:r>
          </a:p>
          <a:p>
            <a:r>
              <a:t>Local design: docs/two_stage_yolo.md and configs/model/two_stage.yaml.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https://docs.ultralytics.com/guides/yolo-performance-metrics/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metrics: models/detection/master_plate_yolo11_20260727_060023/results.csv and models/detection/master_plate_yolo11_20260727_132515/results.csv.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metrics: models/character/yolo26_characters/results.csv.</a:t>
            </a:r>
          </a:p>
          <a:p>
            <a:r>
              <a:t>Local artifact: models/character/yolo26_characters/labels.jpg.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README.md and training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Local project conclusions based on repository metrics and QA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https://doi.org/10.1016/j.aej.2013.02.005</a:t>
            </a:r>
          </a:p>
          <a:p>
            <a:r>
              <a:t>https://arxiv.org/abs/1506.02640</a:t>
            </a:r>
          </a:p>
          <a:p>
            <a:r>
              <a:t>https://arxiv.org/abs/1703.07330</a:t>
            </a:r>
          </a:p>
          <a:p>
            <a:r>
              <a:t>https://arxiv.org/abs/1507.05717</a:t>
            </a:r>
          </a:p>
          <a:p>
            <a:r>
              <a:t>https://doi.org/10.1109/ACIRS55390.2022.9845514</a:t>
            </a:r>
          </a:p>
          <a:p>
            <a:r>
              <a:t>https://docs.ultralytics.com/models/yolo11/</a:t>
            </a:r>
          </a:p>
          <a:p>
            <a:r>
              <a:t>https://docs.ultralytics.com/guides/yolo-performance-metrics/</a:t>
            </a:r>
          </a:p>
          <a:p>
            <a:r>
              <a:t>https://github.com/ahmedramadan96/EALPR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1206DE-8391-4CCD-B1E7-17AD8A1E7876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AA1DD-6C05-4544-8FB3-144BEFAEFC7E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9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Egyptian Automatic</a:t>
            </a:r>
          </a:p>
          <a:p>
            <a:pPr algn="l">
              <a:defRPr sz="49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License Plate Recognition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BCE80E-E593-40A4-9B48-D08A0DDB9D38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7429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Dataset engineering, multi-stage YOLO detection, Arabic character decoding, and deployment workbench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02537E-D9C2-40C3-A181-48E38E34B76A}"/>
              </a:ext>
            </a:extLst>
          </p:cNvPr>
          <p:cNvSpPr>
            <a:spLocks noGrp="1"/>
          </p:cNvSpPr>
          <p:nvPr/>
        </p:nvSpPr>
        <p:spPr>
          <a:xfrm>
            <a:off x="9572625" y="0"/>
            <a:ext cx="2619375" cy="685800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76DA91-366F-4974-A444-32659BFC5187}"/>
              </a:ext>
            </a:extLst>
          </p:cNvPr>
          <p:cNvSpPr>
            <a:spLocks noGrp="1"/>
          </p:cNvSpPr>
          <p:nvPr/>
        </p:nvSpPr>
        <p:spPr>
          <a:xfrm>
            <a:off x="9906000" y="5191125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ALPR</a:t>
            </a:r>
          </a:p>
        </p:txBody>
      </p:sp>
    </p:spTree>
    <p:extLst>
      <p:ext uri="{BB962C8B-B14F-4D97-AF65-F5344CB8AC3E}">
        <p14:creationId xmlns:p14="http://schemas.microsoft.com/office/powerpoint/2010/main" val="345109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651363B6-130A-4436-8FF9-81624BE3540D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594"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The report moves from the problem to evidence and next steps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4896E2F-D7E3-4589-89BB-02ED882CCDBB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67DD3-4D65-4F93-A894-3B5A652F15D8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71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AF741A-A9A7-4916-983B-AFEE407BE17A}"/>
              </a:ext>
            </a:extLst>
          </p:cNvPr>
          <p:cNvSpPr>
            <a:spLocks noGrp="1"/>
          </p:cNvSpPr>
          <p:nvPr/>
        </p:nvSpPr>
        <p:spPr>
          <a:xfrm>
            <a:off x="1381125" y="133350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Introduction &amp;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E02A3-AEF8-430D-A8B6-E50DBE72D911}"/>
              </a:ext>
            </a:extLst>
          </p:cNvPr>
          <p:cNvSpPr>
            <a:spLocks noGrp="1"/>
          </p:cNvSpPr>
          <p:nvPr/>
        </p:nvSpPr>
        <p:spPr>
          <a:xfrm>
            <a:off x="457200" y="1838325"/>
            <a:ext cx="108394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3EED9-AA3F-405A-B322-DE5FAF615775}"/>
              </a:ext>
            </a:extLst>
          </p:cNvPr>
          <p:cNvSpPr>
            <a:spLocks noGrp="1"/>
          </p:cNvSpPr>
          <p:nvPr/>
        </p:nvSpPr>
        <p:spPr>
          <a:xfrm>
            <a:off x="457200" y="2076450"/>
            <a:ext cx="71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E0C77-1B78-4413-B477-92926534A550}"/>
              </a:ext>
            </a:extLst>
          </p:cNvPr>
          <p:cNvSpPr>
            <a:spLocks noGrp="1"/>
          </p:cNvSpPr>
          <p:nvPr/>
        </p:nvSpPr>
        <p:spPr>
          <a:xfrm>
            <a:off x="1381125" y="20764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Background &amp; literature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193F8E-8708-42A3-918D-6048608F6365}"/>
              </a:ext>
            </a:extLst>
          </p:cNvPr>
          <p:cNvSpPr>
            <a:spLocks noGrp="1"/>
          </p:cNvSpPr>
          <p:nvPr/>
        </p:nvSpPr>
        <p:spPr>
          <a:xfrm>
            <a:off x="457200" y="2581275"/>
            <a:ext cx="108394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130B5F-5342-47E8-9911-88E30FB891B7}"/>
              </a:ext>
            </a:extLst>
          </p:cNvPr>
          <p:cNvSpPr>
            <a:spLocks noGrp="1"/>
          </p:cNvSpPr>
          <p:nvPr/>
        </p:nvSpPr>
        <p:spPr>
          <a:xfrm>
            <a:off x="457200" y="2819400"/>
            <a:ext cx="71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FEDB14-4E8A-420A-A18B-B4FBCC08471F}"/>
              </a:ext>
            </a:extLst>
          </p:cNvPr>
          <p:cNvSpPr>
            <a:spLocks noGrp="1"/>
          </p:cNvSpPr>
          <p:nvPr/>
        </p:nvSpPr>
        <p:spPr>
          <a:xfrm>
            <a:off x="1381125" y="281940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Datasets &amp; 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EF690D-5FEE-4CCF-9974-3EEF9AA588D4}"/>
              </a:ext>
            </a:extLst>
          </p:cNvPr>
          <p:cNvSpPr>
            <a:spLocks noGrp="1"/>
          </p:cNvSpPr>
          <p:nvPr/>
        </p:nvSpPr>
        <p:spPr>
          <a:xfrm>
            <a:off x="457200" y="3324225"/>
            <a:ext cx="108394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8F1901-E557-4B06-B31D-CFF05095DFB5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71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85B215-6108-49E2-A62F-CCFB8A0A3105}"/>
              </a:ext>
            </a:extLst>
          </p:cNvPr>
          <p:cNvSpPr>
            <a:spLocks noGrp="1"/>
          </p:cNvSpPr>
          <p:nvPr/>
        </p:nvSpPr>
        <p:spPr>
          <a:xfrm>
            <a:off x="1381125" y="35623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Metrics &amp; 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85D46-CE7A-4416-91BA-646ED72390FA}"/>
              </a:ext>
            </a:extLst>
          </p:cNvPr>
          <p:cNvSpPr>
            <a:spLocks noGrp="1"/>
          </p:cNvSpPr>
          <p:nvPr/>
        </p:nvSpPr>
        <p:spPr>
          <a:xfrm>
            <a:off x="457200" y="4067175"/>
            <a:ext cx="108394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BEEF0B-8763-45C7-B3F1-C8088891C987}"/>
              </a:ext>
            </a:extLst>
          </p:cNvPr>
          <p:cNvSpPr>
            <a:spLocks noGrp="1"/>
          </p:cNvSpPr>
          <p:nvPr/>
        </p:nvSpPr>
        <p:spPr>
          <a:xfrm>
            <a:off x="457200" y="4305300"/>
            <a:ext cx="71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3DD5A-FA4D-4345-8A8E-BD5EC26839EB}"/>
              </a:ext>
            </a:extLst>
          </p:cNvPr>
          <p:cNvSpPr>
            <a:spLocks noGrp="1"/>
          </p:cNvSpPr>
          <p:nvPr/>
        </p:nvSpPr>
        <p:spPr>
          <a:xfrm>
            <a:off x="1381125" y="430530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Conclusions &amp; future 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853DF9-B925-4268-B8F8-B07B1C53A23B}"/>
              </a:ext>
            </a:extLst>
          </p:cNvPr>
          <p:cNvSpPr>
            <a:spLocks noGrp="1"/>
          </p:cNvSpPr>
          <p:nvPr/>
        </p:nvSpPr>
        <p:spPr>
          <a:xfrm>
            <a:off x="457200" y="4810125"/>
            <a:ext cx="108394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F9D4B-F1B7-4C1D-93BC-821F39E63F83}"/>
              </a:ext>
            </a:extLst>
          </p:cNvPr>
          <p:cNvSpPr>
            <a:spLocks noGrp="1"/>
          </p:cNvSpPr>
          <p:nvPr/>
        </p:nvSpPr>
        <p:spPr>
          <a:xfrm>
            <a:off x="457200" y="5048250"/>
            <a:ext cx="71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B204B-35DD-4F6E-ACDF-0587ADA669DC}"/>
              </a:ext>
            </a:extLst>
          </p:cNvPr>
          <p:cNvSpPr>
            <a:spLocks noGrp="1"/>
          </p:cNvSpPr>
          <p:nvPr/>
        </p:nvSpPr>
        <p:spPr>
          <a:xfrm>
            <a:off x="1381125" y="50482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973633-9FF7-495B-8507-1C2D506F9E3D}"/>
              </a:ext>
            </a:extLst>
          </p:cNvPr>
          <p:cNvSpPr>
            <a:spLocks noGrp="1"/>
          </p:cNvSpPr>
          <p:nvPr/>
        </p:nvSpPr>
        <p:spPr>
          <a:xfrm>
            <a:off x="457200" y="5553075"/>
            <a:ext cx="108394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0670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1CC5DEF6-6F12-44E1-B53B-23A5F083C09A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127"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Egyptian plates turn a standard OCR task into a domain problem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58FF4622-5648-4DC5-B09F-0989D0D51421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C62171-7444-44DB-AD30-B8A82E4DB99A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8E0B6C-B748-441A-BB64-E08E91EC3CCB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4953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401"/>
          </a:bodyPr>
          <a:lstStyle/>
          <a:p>
            <a:pPr algn="l">
              <a:defRPr sz="240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Detect and recognize Egyptian vehicle and motorcycle plates reliably from unconstrained images and video.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6E369A-3E7E-4127-B1DE-C48BED431FD0}"/>
              </a:ext>
            </a:extLst>
          </p:cNvPr>
          <p:cNvSpPr>
            <a:spLocks noGrp="1"/>
          </p:cNvSpPr>
          <p:nvPr/>
        </p:nvSpPr>
        <p:spPr>
          <a:xfrm>
            <a:off x="457200" y="3543300"/>
            <a:ext cx="5143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• Arabic letters and digits with right-to-left ordering</a:t>
            </a:r>
          </a:p>
          <a:p>
            <a:pPr algn="l">
              <a:defRPr sz="1650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• Small targets, blur, glare, occlusion, tilt, and night scenes</a:t>
            </a:r>
          </a:p>
          <a:p>
            <a:pPr algn="l">
              <a:defRPr sz="1650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• Heterogeneous datasets and annotation formats</a:t>
            </a:r>
          </a:p>
          <a:p>
            <a:pPr algn="l">
              <a:defRPr sz="1650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• Cascaded errors can prevent downstream recognition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t="3389" b="3389"/>
          <a:stretch>
            <a:fillRect/>
          </a:stretch>
        </p:blipFill>
        <p:spPr>
          <a:xfrm>
            <a:off x="6191250" y="1219200"/>
            <a:ext cx="55245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9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780A8856-0162-4A6F-A57F-F493FA5489AB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5682"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Prior work progressed from handcrafted segmentation to learned cascades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BB1E4870-AD4D-42D8-BAB1-83802F254E61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2D8413-7C6D-48EE-BD8C-A48224B22253}"/>
              </a:ext>
            </a:extLst>
          </p:cNvPr>
          <p:cNvSpPr>
            <a:spLocks noGrp="1"/>
          </p:cNvSpPr>
          <p:nvPr/>
        </p:nvSpPr>
        <p:spPr>
          <a:xfrm>
            <a:off x="457200" y="1666875"/>
            <a:ext cx="3429000" cy="3381375"/>
          </a:xfrm>
          <a:prstGeom prst="roundRect">
            <a:avLst>
              <a:gd name="adj" fmla="val 2254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ACEBF7-4998-41F7-9182-761F134A32B3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2013–2014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C5675-2203-4CDD-BB06-948894CA2B3F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Classical Egyptian ALPR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325CC2-97A5-48D9-BF43-9D952D706657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Edges, morphology, connected components, skew correction, and template matching.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7467E2-003F-41E2-9DF2-BD40AFAE3524}"/>
              </a:ext>
            </a:extLst>
          </p:cNvPr>
          <p:cNvSpPr>
            <a:spLocks noGrp="1"/>
          </p:cNvSpPr>
          <p:nvPr/>
        </p:nvSpPr>
        <p:spPr>
          <a:xfrm>
            <a:off x="4238625" y="1666875"/>
            <a:ext cx="3429000" cy="3381375"/>
          </a:xfrm>
          <a:prstGeom prst="roundRect">
            <a:avLst>
              <a:gd name="adj" fmla="val 2254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F0484B-8319-4F3D-8AD4-EB56D7915462}"/>
              </a:ext>
            </a:extLst>
          </p:cNvPr>
          <p:cNvSpPr>
            <a:spLocks noGrp="1"/>
          </p:cNvSpPr>
          <p:nvPr/>
        </p:nvSpPr>
        <p:spPr>
          <a:xfrm>
            <a:off x="4467225" y="19050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2016–2022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7670A5-8306-4B3E-BC51-5155F52D96DA}"/>
              </a:ext>
            </a:extLst>
          </p:cNvPr>
          <p:cNvSpPr>
            <a:spLocks noGrp="1"/>
          </p:cNvSpPr>
          <p:nvPr/>
        </p:nvSpPr>
        <p:spPr>
          <a:xfrm>
            <a:off x="4467225" y="24193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Deep learned localization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739CD9-E64F-4E7A-AFC5-5EEF0D90CB69}"/>
              </a:ext>
            </a:extLst>
          </p:cNvPr>
          <p:cNvSpPr>
            <a:spLocks noGrp="1"/>
          </p:cNvSpPr>
          <p:nvPr/>
        </p:nvSpPr>
        <p:spPr>
          <a:xfrm>
            <a:off x="4467225" y="33337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YOLO and CNN cascades improve robustness to background, pose, and lighting variation.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27F98E-0FE1-4C71-86E7-9CBADCDD1B4A}"/>
              </a:ext>
            </a:extLst>
          </p:cNvPr>
          <p:cNvSpPr>
            <a:spLocks noGrp="1"/>
          </p:cNvSpPr>
          <p:nvPr/>
        </p:nvSpPr>
        <p:spPr>
          <a:xfrm>
            <a:off x="8020050" y="1666875"/>
            <a:ext cx="3429000" cy="3381375"/>
          </a:xfrm>
          <a:prstGeom prst="roundRect">
            <a:avLst>
              <a:gd name="adj" fmla="val 2254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9BB2B-40FE-4DE8-80B3-1E06AC6ACD71}"/>
              </a:ext>
            </a:extLst>
          </p:cNvPr>
          <p:cNvSpPr>
            <a:spLocks noGrp="1"/>
          </p:cNvSpPr>
          <p:nvPr/>
        </p:nvSpPr>
        <p:spPr>
          <a:xfrm>
            <a:off x="8248650" y="19050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2017–2025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7A05B1-476E-42A6-9624-52A1049CCD83}"/>
              </a:ext>
            </a:extLst>
          </p:cNvPr>
          <p:cNvSpPr>
            <a:spLocks noGrp="1"/>
          </p:cNvSpPr>
          <p:nvPr/>
        </p:nvSpPr>
        <p:spPr>
          <a:xfrm>
            <a:off x="8248650" y="24193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Sequence &amp; domain models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2CEEC0-BFC8-4163-AE43-E67AE72BAA19}"/>
              </a:ext>
            </a:extLst>
          </p:cNvPr>
          <p:cNvSpPr>
            <a:spLocks noGrp="1"/>
          </p:cNvSpPr>
          <p:nvPr/>
        </p:nvSpPr>
        <p:spPr>
          <a:xfrm>
            <a:off x="8248650" y="33337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CRNN/CTC and newer Arabic-focused systems reduce reliance on perfect segmentation.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0EF821-8CEF-4D64-A7ED-6E11BA00D68F}"/>
              </a:ext>
            </a:extLst>
          </p:cNvPr>
          <p:cNvSpPr>
            <a:spLocks noGrp="1"/>
          </p:cNvSpPr>
          <p:nvPr/>
        </p:nvSpPr>
        <p:spPr>
          <a:xfrm>
            <a:off x="457200" y="5476875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Project position: reproducible data engineering + plate detection + 38-class character detection + locale-aware decoding + web workbench</a:t>
            </a:r>
          </a:p>
        </p:txBody>
      </p:sp>
    </p:spTree>
    <p:extLst>
      <p:ext uri="{BB962C8B-B14F-4D97-AF65-F5344CB8AC3E}">
        <p14:creationId xmlns:p14="http://schemas.microsoft.com/office/powerpoint/2010/main" val="39058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D09F7AE5-6B6A-4790-A503-5BEB9646484A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177"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Two plate sources became one reproducible 2,317-image corpus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340F19B-D306-4D70-8C81-1E8B26B5D3E1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501283"/>
            <a:ext cx="5476875" cy="347443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18C6E7-9C22-4526-BE7E-077284F3DBAB}"/>
              </a:ext>
            </a:extLst>
          </p:cNvPr>
          <p:cNvSpPr>
            <a:spLocks noGrp="1"/>
          </p:cNvSpPr>
          <p:nvPr/>
        </p:nvSpPr>
        <p:spPr>
          <a:xfrm>
            <a:off x="6429375" y="1381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4FC8CD-F4E3-4F95-8915-53FD7BBDAC66}"/>
              </a:ext>
            </a:extLst>
          </p:cNvPr>
          <p:cNvSpPr>
            <a:spLocks noGrp="1"/>
          </p:cNvSpPr>
          <p:nvPr/>
        </p:nvSpPr>
        <p:spPr>
          <a:xfrm>
            <a:off x="6600825" y="1524000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2,551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7CF42-2F55-42BA-A4AE-1181B0078EAE}"/>
              </a:ext>
            </a:extLst>
          </p:cNvPr>
          <p:cNvSpPr>
            <a:spLocks noGrp="1"/>
          </p:cNvSpPr>
          <p:nvPr/>
        </p:nvSpPr>
        <p:spPr>
          <a:xfrm>
            <a:off x="6600825" y="20097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raw images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64B07C-13CE-4A39-A02B-AE47E110C1B0}"/>
              </a:ext>
            </a:extLst>
          </p:cNvPr>
          <p:cNvSpPr>
            <a:spLocks noGrp="1"/>
          </p:cNvSpPr>
          <p:nvPr/>
        </p:nvSpPr>
        <p:spPr>
          <a:xfrm>
            <a:off x="9001125" y="138112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4D0393-B784-4C6A-9D44-B22044D44A0D}"/>
              </a:ext>
            </a:extLst>
          </p:cNvPr>
          <p:cNvSpPr>
            <a:spLocks noGrp="1"/>
          </p:cNvSpPr>
          <p:nvPr/>
        </p:nvSpPr>
        <p:spPr>
          <a:xfrm>
            <a:off x="9172575" y="1524000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2,317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21BCC9-33B6-48EC-AD18-75E795086C52}"/>
              </a:ext>
            </a:extLst>
          </p:cNvPr>
          <p:cNvSpPr>
            <a:spLocks noGrp="1"/>
          </p:cNvSpPr>
          <p:nvPr/>
        </p:nvSpPr>
        <p:spPr>
          <a:xfrm>
            <a:off x="9172575" y="20097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harmonized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609775-2B26-44AB-8B29-23E2F23B73FD}"/>
              </a:ext>
            </a:extLst>
          </p:cNvPr>
          <p:cNvSpPr>
            <a:spLocks noGrp="1"/>
          </p:cNvSpPr>
          <p:nvPr/>
        </p:nvSpPr>
        <p:spPr>
          <a:xfrm>
            <a:off x="6429375" y="276225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95B7AF-643A-4E8F-968A-74D71F55606E}"/>
              </a:ext>
            </a:extLst>
          </p:cNvPr>
          <p:cNvSpPr>
            <a:spLocks noGrp="1"/>
          </p:cNvSpPr>
          <p:nvPr/>
        </p:nvSpPr>
        <p:spPr>
          <a:xfrm>
            <a:off x="6600825" y="2905125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1,622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B61A5D-9380-41DE-9F8B-62934FE03CCD}"/>
              </a:ext>
            </a:extLst>
          </p:cNvPr>
          <p:cNvSpPr>
            <a:spLocks noGrp="1"/>
          </p:cNvSpPr>
          <p:nvPr/>
        </p:nvSpPr>
        <p:spPr>
          <a:xfrm>
            <a:off x="6600825" y="33909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C3386F-15CE-44B7-800E-92C6E5FE8287}"/>
              </a:ext>
            </a:extLst>
          </p:cNvPr>
          <p:cNvSpPr>
            <a:spLocks noGrp="1"/>
          </p:cNvSpPr>
          <p:nvPr/>
        </p:nvSpPr>
        <p:spPr>
          <a:xfrm>
            <a:off x="9001125" y="2762250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8019FB-658E-4177-B27B-B3B2F5A79BAC}"/>
              </a:ext>
            </a:extLst>
          </p:cNvPr>
          <p:cNvSpPr>
            <a:spLocks noGrp="1"/>
          </p:cNvSpPr>
          <p:nvPr/>
        </p:nvSpPr>
        <p:spPr>
          <a:xfrm>
            <a:off x="9172575" y="2905125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348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F6783-DA98-4449-87B2-2AEFA32C81EA}"/>
              </a:ext>
            </a:extLst>
          </p:cNvPr>
          <p:cNvSpPr>
            <a:spLocks noGrp="1"/>
          </p:cNvSpPr>
          <p:nvPr/>
        </p:nvSpPr>
        <p:spPr>
          <a:xfrm>
            <a:off x="9172575" y="33909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705F51-9606-4BBC-9483-0FDAAB5A09E8}"/>
              </a:ext>
            </a:extLst>
          </p:cNvPr>
          <p:cNvSpPr>
            <a:spLocks noGrp="1"/>
          </p:cNvSpPr>
          <p:nvPr/>
        </p:nvSpPr>
        <p:spPr>
          <a:xfrm>
            <a:off x="6429375" y="414337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2FF43C-4AFA-476E-9392-CE3DBA412C13}"/>
              </a:ext>
            </a:extLst>
          </p:cNvPr>
          <p:cNvSpPr>
            <a:spLocks noGrp="1"/>
          </p:cNvSpPr>
          <p:nvPr/>
        </p:nvSpPr>
        <p:spPr>
          <a:xfrm>
            <a:off x="6600825" y="4286250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347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A0150B-74F6-4240-96BA-FA32C108D6BF}"/>
              </a:ext>
            </a:extLst>
          </p:cNvPr>
          <p:cNvSpPr>
            <a:spLocks noGrp="1"/>
          </p:cNvSpPr>
          <p:nvPr/>
        </p:nvSpPr>
        <p:spPr>
          <a:xfrm>
            <a:off x="6600825" y="47720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E68F99-D99D-4336-99CD-28E2F8BAF452}"/>
              </a:ext>
            </a:extLst>
          </p:cNvPr>
          <p:cNvSpPr>
            <a:spLocks noGrp="1"/>
          </p:cNvSpPr>
          <p:nvPr/>
        </p:nvSpPr>
        <p:spPr>
          <a:xfrm>
            <a:off x="9001125" y="4143375"/>
            <a:ext cx="2286000" cy="104775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767336-CFBB-4B46-8F03-734A37385978}"/>
              </a:ext>
            </a:extLst>
          </p:cNvPr>
          <p:cNvSpPr>
            <a:spLocks noGrp="1"/>
          </p:cNvSpPr>
          <p:nvPr/>
        </p:nvSpPr>
        <p:spPr>
          <a:xfrm>
            <a:off x="9172575" y="4286250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6,332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4A3CE2-C81F-4302-B06A-C5C196F190C8}"/>
              </a:ext>
            </a:extLst>
          </p:cNvPr>
          <p:cNvSpPr>
            <a:spLocks noGrp="1"/>
          </p:cNvSpPr>
          <p:nvPr/>
        </p:nvSpPr>
        <p:spPr>
          <a:xfrm>
            <a:off x="9172575" y="47720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character crops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BFE715-201A-466D-9139-3F2C22C3B4D0}"/>
              </a:ext>
            </a:extLst>
          </p:cNvPr>
          <p:cNvSpPr>
            <a:spLocks noGrp="1"/>
          </p:cNvSpPr>
          <p:nvPr/>
        </p:nvSpPr>
        <p:spPr>
          <a:xfrm>
            <a:off x="6429375" y="5572125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567"/>
          </a:bodyPr>
          <a:lstStyle/>
          <a:p>
            <a:pPr algn="l">
              <a:defRPr sz="1425" b="0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1C1C"/>
                </a:solidFill>
                <a:latin typeface="Arial"/>
                <a:ea typeface="Arial"/>
                <a:cs typeface="Arial"/>
              </a:rPr>
              <a:t>QA flags: near duplicates, two missing Dataset A annotations, one corrupted Dataset B image, and identity overlap in the character export.</a:t>
            </a:r>
          </a:p>
        </p:txBody>
      </p:sp>
    </p:spTree>
    <p:extLst>
      <p:ext uri="{BB962C8B-B14F-4D97-AF65-F5344CB8AC3E}">
        <p14:creationId xmlns:p14="http://schemas.microsoft.com/office/powerpoint/2010/main" val="78721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D25E3941-5C06-4C1E-8018-2FCA61DBD259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The cascade narrows the search area at every stage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3ECD65C7-FF5C-4D55-BF76-57B4954A7E5F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3C898AD-38AF-4723-8F04-CDC7A36D7427}"/>
              </a:ext>
            </a:extLst>
          </p:cNvPr>
          <p:cNvSpPr>
            <a:spLocks noGrp="1"/>
          </p:cNvSpPr>
          <p:nvPr/>
        </p:nvSpPr>
        <p:spPr>
          <a:xfrm>
            <a:off x="2933700" y="3114675"/>
            <a:ext cx="400050" cy="3619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EDC8963-0D89-4BF6-9F8B-85CF4659BF1D}"/>
              </a:ext>
            </a:extLst>
          </p:cNvPr>
          <p:cNvSpPr>
            <a:spLocks noGrp="1"/>
          </p:cNvSpPr>
          <p:nvPr/>
        </p:nvSpPr>
        <p:spPr>
          <a:xfrm>
            <a:off x="5743575" y="3114675"/>
            <a:ext cx="400050" cy="3619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2C8B19E-A056-4E09-84FF-2720165D4414}"/>
              </a:ext>
            </a:extLst>
          </p:cNvPr>
          <p:cNvSpPr>
            <a:spLocks noGrp="1"/>
          </p:cNvSpPr>
          <p:nvPr/>
        </p:nvSpPr>
        <p:spPr>
          <a:xfrm>
            <a:off x="8553450" y="3114675"/>
            <a:ext cx="400050" cy="3619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752442-6894-41B7-81E5-FC5936F43601}"/>
              </a:ext>
            </a:extLst>
          </p:cNvPr>
          <p:cNvSpPr>
            <a:spLocks noGrp="1"/>
          </p:cNvSpPr>
          <p:nvPr/>
        </p:nvSpPr>
        <p:spPr>
          <a:xfrm>
            <a:off x="523875" y="2524125"/>
            <a:ext cx="2238375" cy="161925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DA2BC-A9B8-4BDF-9F5C-86444E10BABF}"/>
              </a:ext>
            </a:extLst>
          </p:cNvPr>
          <p:cNvSpPr>
            <a:spLocks noGrp="1"/>
          </p:cNvSpPr>
          <p:nvPr/>
        </p:nvSpPr>
        <p:spPr>
          <a:xfrm>
            <a:off x="714375" y="269557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D80504-3001-4AB3-80B8-C1D402EF1382}"/>
              </a:ext>
            </a:extLst>
          </p:cNvPr>
          <p:cNvSpPr>
            <a:spLocks noGrp="1"/>
          </p:cNvSpPr>
          <p:nvPr/>
        </p:nvSpPr>
        <p:spPr>
          <a:xfrm>
            <a:off x="714375" y="3076575"/>
            <a:ext cx="1857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62"/>
          </a:bodyPr>
          <a:lstStyle/>
          <a:p>
            <a:pPr algn="l">
              <a:defRPr sz="1875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Vehicle detection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D22CA6-938E-414B-A4F7-3FBE6CB2197F}"/>
              </a:ext>
            </a:extLst>
          </p:cNvPr>
          <p:cNvSpPr>
            <a:spLocks noGrp="1"/>
          </p:cNvSpPr>
          <p:nvPr/>
        </p:nvSpPr>
        <p:spPr>
          <a:xfrm>
            <a:off x="714375" y="36290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868"/>
          </a:bodyPr>
          <a:lstStyle/>
          <a:p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COCO-pretrained YOLO11n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82862F-8A4A-4C19-999A-75BCBB194545}"/>
              </a:ext>
            </a:extLst>
          </p:cNvPr>
          <p:cNvSpPr>
            <a:spLocks noGrp="1"/>
          </p:cNvSpPr>
          <p:nvPr/>
        </p:nvSpPr>
        <p:spPr>
          <a:xfrm>
            <a:off x="3333750" y="2524125"/>
            <a:ext cx="2238375" cy="161925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1C4633-A2F2-471B-8297-1609F0193E3A}"/>
              </a:ext>
            </a:extLst>
          </p:cNvPr>
          <p:cNvSpPr>
            <a:spLocks noGrp="1"/>
          </p:cNvSpPr>
          <p:nvPr/>
        </p:nvSpPr>
        <p:spPr>
          <a:xfrm>
            <a:off x="3524250" y="269557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CDFFD2-C93B-42F9-85A6-A12B87785432}"/>
              </a:ext>
            </a:extLst>
          </p:cNvPr>
          <p:cNvSpPr>
            <a:spLocks noGrp="1"/>
          </p:cNvSpPr>
          <p:nvPr/>
        </p:nvSpPr>
        <p:spPr>
          <a:xfrm>
            <a:off x="3524250" y="3076575"/>
            <a:ext cx="1857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70"/>
          </a:bodyPr>
          <a:lstStyle/>
          <a:p>
            <a:pPr algn="l">
              <a:defRPr sz="1875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Plate localization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E7762B-139E-4D17-A0AA-C3A4EC467913}"/>
              </a:ext>
            </a:extLst>
          </p:cNvPr>
          <p:cNvSpPr>
            <a:spLocks noGrp="1"/>
          </p:cNvSpPr>
          <p:nvPr/>
        </p:nvSpPr>
        <p:spPr>
          <a:xfrm>
            <a:off x="3524250" y="36290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custom YOLO11n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34E2D4-F6A0-4296-866D-76C6B32B7338}"/>
              </a:ext>
            </a:extLst>
          </p:cNvPr>
          <p:cNvSpPr>
            <a:spLocks noGrp="1"/>
          </p:cNvSpPr>
          <p:nvPr/>
        </p:nvSpPr>
        <p:spPr>
          <a:xfrm>
            <a:off x="6143625" y="2524125"/>
            <a:ext cx="2238375" cy="161925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C15526-619D-4B5D-AC7F-C35665CD25FA}"/>
              </a:ext>
            </a:extLst>
          </p:cNvPr>
          <p:cNvSpPr>
            <a:spLocks noGrp="1"/>
          </p:cNvSpPr>
          <p:nvPr/>
        </p:nvSpPr>
        <p:spPr>
          <a:xfrm>
            <a:off x="6334125" y="269557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D6D9B9-A9C6-49F1-A72D-8D9A538078E5}"/>
              </a:ext>
            </a:extLst>
          </p:cNvPr>
          <p:cNvSpPr>
            <a:spLocks noGrp="1"/>
          </p:cNvSpPr>
          <p:nvPr/>
        </p:nvSpPr>
        <p:spPr>
          <a:xfrm>
            <a:off x="6334125" y="3076575"/>
            <a:ext cx="1857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667"/>
          </a:bodyPr>
          <a:lstStyle/>
          <a:p>
            <a:pPr algn="l">
              <a:defRPr sz="1875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Character detection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E375F0-3A7D-4CBE-9D89-8255533E6CF3}"/>
              </a:ext>
            </a:extLst>
          </p:cNvPr>
          <p:cNvSpPr>
            <a:spLocks noGrp="1"/>
          </p:cNvSpPr>
          <p:nvPr/>
        </p:nvSpPr>
        <p:spPr>
          <a:xfrm>
            <a:off x="6334125" y="36290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38-class YOLO26n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2D3145-A7D9-4821-882E-52B29502B262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2238375" cy="1619250"/>
          </a:xfrm>
          <a:prstGeom prst="roundRect">
            <a:avLst>
              <a:gd name="adj" fmla="val 4706"/>
            </a:avLst>
          </a:prstGeom>
          <a:solidFill>
            <a:srgbClr val="EAF2F8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214EBA-4B09-4251-B605-9126B4EB2120}"/>
              </a:ext>
            </a:extLst>
          </p:cNvPr>
          <p:cNvSpPr>
            <a:spLocks noGrp="1"/>
          </p:cNvSpPr>
          <p:nvPr/>
        </p:nvSpPr>
        <p:spPr>
          <a:xfrm>
            <a:off x="9144000" y="2695575"/>
            <a:ext cx="333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CF0E4C-558C-41AF-9ED4-D5C95AFAD4BB}"/>
              </a:ext>
            </a:extLst>
          </p:cNvPr>
          <p:cNvSpPr>
            <a:spLocks noGrp="1"/>
          </p:cNvSpPr>
          <p:nvPr/>
        </p:nvSpPr>
        <p:spPr>
          <a:xfrm>
            <a:off x="9144000" y="3076575"/>
            <a:ext cx="1857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826"/>
          </a:bodyPr>
          <a:lstStyle/>
          <a:p>
            <a:pPr algn="l">
              <a:defRPr sz="1875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Locale decoding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2E74F-ABAA-4132-A40E-1C6571133959}"/>
              </a:ext>
            </a:extLst>
          </p:cNvPr>
          <p:cNvSpPr>
            <a:spLocks noGrp="1"/>
          </p:cNvSpPr>
          <p:nvPr/>
        </p:nvSpPr>
        <p:spPr>
          <a:xfrm>
            <a:off x="9144000" y="3629025"/>
            <a:ext cx="1857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row clustering + RTL sort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4748B8-D4B3-4C6D-91F9-9B2A940A3BAE}"/>
              </a:ext>
            </a:extLst>
          </p:cNvPr>
          <p:cNvSpPr>
            <a:spLocks noGrp="1"/>
          </p:cNvSpPr>
          <p:nvPr/>
        </p:nvSpPr>
        <p:spPr>
          <a:xfrm>
            <a:off x="457200" y="5095875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An optional CRNN/CTC recognizer is retained as a fallback when segmented-character weights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194960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C3E9DFE2-5F8E-4271-8037-75F438DAAF2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082"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Evaluation separates detection quality from whole-plate recognition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E0C594C5-7E21-4875-8DCF-5BF6F564A2C1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301B17-105B-4BB9-924E-F5E6A5FFA34C}"/>
              </a:ext>
            </a:extLst>
          </p:cNvPr>
          <p:cNvSpPr>
            <a:spLocks noGrp="1"/>
          </p:cNvSpPr>
          <p:nvPr/>
        </p:nvSpPr>
        <p:spPr>
          <a:xfrm>
            <a:off x="457200" y="12858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9B1D9B-C375-45D1-B42E-82C217ED6ED9}"/>
              </a:ext>
            </a:extLst>
          </p:cNvPr>
          <p:cNvSpPr>
            <a:spLocks noGrp="1"/>
          </p:cNvSpPr>
          <p:nvPr/>
        </p:nvSpPr>
        <p:spPr>
          <a:xfrm>
            <a:off x="457200" y="173355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How many reported detections are correct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C5D5B-58FE-493F-8B7F-94A3D94B5300}"/>
              </a:ext>
            </a:extLst>
          </p:cNvPr>
          <p:cNvSpPr>
            <a:spLocks noGrp="1"/>
          </p:cNvSpPr>
          <p:nvPr/>
        </p:nvSpPr>
        <p:spPr>
          <a:xfrm>
            <a:off x="457200" y="236220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F9AF02-D2E2-4589-829B-B4B954ED8DEB}"/>
              </a:ext>
            </a:extLst>
          </p:cNvPr>
          <p:cNvSpPr>
            <a:spLocks noGrp="1"/>
          </p:cNvSpPr>
          <p:nvPr/>
        </p:nvSpPr>
        <p:spPr>
          <a:xfrm>
            <a:off x="6076950" y="12858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03645B-3E83-41FC-BB9A-B829AF999427}"/>
              </a:ext>
            </a:extLst>
          </p:cNvPr>
          <p:cNvSpPr>
            <a:spLocks noGrp="1"/>
          </p:cNvSpPr>
          <p:nvPr/>
        </p:nvSpPr>
        <p:spPr>
          <a:xfrm>
            <a:off x="6076950" y="173355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How many true objects are found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F99283-61A9-4E1E-AA71-EC20D491A49A}"/>
              </a:ext>
            </a:extLst>
          </p:cNvPr>
          <p:cNvSpPr>
            <a:spLocks noGrp="1"/>
          </p:cNvSpPr>
          <p:nvPr/>
        </p:nvSpPr>
        <p:spPr>
          <a:xfrm>
            <a:off x="6076950" y="236220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3ADE5-9E34-41E8-9011-C190982F0013}"/>
              </a:ext>
            </a:extLst>
          </p:cNvPr>
          <p:cNvSpPr>
            <a:spLocks noGrp="1"/>
          </p:cNvSpPr>
          <p:nvPr/>
        </p:nvSpPr>
        <p:spPr>
          <a:xfrm>
            <a:off x="457200" y="271462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mAP@0.50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71F814-59D8-4301-B353-ED6AF8682B74}"/>
              </a:ext>
            </a:extLst>
          </p:cNvPr>
          <p:cNvSpPr>
            <a:spLocks noGrp="1"/>
          </p:cNvSpPr>
          <p:nvPr/>
        </p:nvSpPr>
        <p:spPr>
          <a:xfrm>
            <a:off x="457200" y="316230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Average precision at IoU 0.50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9709B1-9D5A-4042-A78E-6CF8378ACC94}"/>
              </a:ext>
            </a:extLst>
          </p:cNvPr>
          <p:cNvSpPr>
            <a:spLocks noGrp="1"/>
          </p:cNvSpPr>
          <p:nvPr/>
        </p:nvSpPr>
        <p:spPr>
          <a:xfrm>
            <a:off x="457200" y="379095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3C256-C86F-4680-A46A-EA92620F4EB4}"/>
              </a:ext>
            </a:extLst>
          </p:cNvPr>
          <p:cNvSpPr>
            <a:spLocks noGrp="1"/>
          </p:cNvSpPr>
          <p:nvPr/>
        </p:nvSpPr>
        <p:spPr>
          <a:xfrm>
            <a:off x="6076950" y="271462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mAP@0.50:0.95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390AC3-2A4D-4CC2-AF86-22D5F94FAE03}"/>
              </a:ext>
            </a:extLst>
          </p:cNvPr>
          <p:cNvSpPr>
            <a:spLocks noGrp="1"/>
          </p:cNvSpPr>
          <p:nvPr/>
        </p:nvSpPr>
        <p:spPr>
          <a:xfrm>
            <a:off x="6076950" y="316230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Localization quality across stricter IoUs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BA01A2-C85D-42CD-BC4D-1D0F4E58F40C}"/>
              </a:ext>
            </a:extLst>
          </p:cNvPr>
          <p:cNvSpPr>
            <a:spLocks noGrp="1"/>
          </p:cNvSpPr>
          <p:nvPr/>
        </p:nvSpPr>
        <p:spPr>
          <a:xfrm>
            <a:off x="6076950" y="379095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CD1EE0-E1A6-4179-BBF4-4BA4463EF6F0}"/>
              </a:ext>
            </a:extLst>
          </p:cNvPr>
          <p:cNvSpPr>
            <a:spLocks noGrp="1"/>
          </p:cNvSpPr>
          <p:nvPr/>
        </p:nvSpPr>
        <p:spPr>
          <a:xfrm>
            <a:off x="457200" y="41433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75735B-86B7-4742-A19C-BBE369DA3FD3}"/>
              </a:ext>
            </a:extLst>
          </p:cNvPr>
          <p:cNvSpPr>
            <a:spLocks noGrp="1"/>
          </p:cNvSpPr>
          <p:nvPr/>
        </p:nvSpPr>
        <p:spPr>
          <a:xfrm>
            <a:off x="457200" y="459105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Character-level edit error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ACACBF-5C51-4B25-9080-0A9D6FA51F7A}"/>
              </a:ext>
            </a:extLst>
          </p:cNvPr>
          <p:cNvSpPr>
            <a:spLocks noGrp="1"/>
          </p:cNvSpPr>
          <p:nvPr/>
        </p:nvSpPr>
        <p:spPr>
          <a:xfrm>
            <a:off x="457200" y="521970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5EFCFE-2A7A-4D7D-A8C7-ADE22CAEBC0A}"/>
              </a:ext>
            </a:extLst>
          </p:cNvPr>
          <p:cNvSpPr>
            <a:spLocks noGrp="1"/>
          </p:cNvSpPr>
          <p:nvPr/>
        </p:nvSpPr>
        <p:spPr>
          <a:xfrm>
            <a:off x="6076950" y="41433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Exact match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7B62F9-679D-43F1-A5F2-D4DC96FFDBD5}"/>
              </a:ext>
            </a:extLst>
          </p:cNvPr>
          <p:cNvSpPr>
            <a:spLocks noGrp="1"/>
          </p:cNvSpPr>
          <p:nvPr/>
        </p:nvSpPr>
        <p:spPr>
          <a:xfrm>
            <a:off x="6076950" y="459105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Perfect plate strings / all plates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E99EFE-304A-4F2D-AB0E-E4AE5D015A47}"/>
              </a:ext>
            </a:extLst>
          </p:cNvPr>
          <p:cNvSpPr>
            <a:spLocks noGrp="1"/>
          </p:cNvSpPr>
          <p:nvPr/>
        </p:nvSpPr>
        <p:spPr>
          <a:xfrm>
            <a:off x="6076950" y="5219700"/>
            <a:ext cx="4953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D98998-05A4-422B-BC51-8E5C9C94D31B}"/>
              </a:ext>
            </a:extLst>
          </p:cNvPr>
          <p:cNvSpPr>
            <a:spLocks noGrp="1"/>
          </p:cNvSpPr>
          <p:nvPr/>
        </p:nvSpPr>
        <p:spPr>
          <a:xfrm>
            <a:off x="457200" y="56483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Current 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C48335-A1C3-4FFC-9125-A1FD31CD4B43}"/>
              </a:ext>
            </a:extLst>
          </p:cNvPr>
          <p:cNvSpPr>
            <a:spLocks noGrp="1"/>
          </p:cNvSpPr>
          <p:nvPr/>
        </p:nvSpPr>
        <p:spPr>
          <a:xfrm>
            <a:off x="2238375" y="5600700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270"/>
          </a:bodyPr>
          <a:lstStyle/>
          <a:p>
            <a:pPr algn="l">
              <a:defRPr sz="1575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Detector metrics are available; CER, exact-match accuracy, end-to-end recall, latency, and FPS remain to be benchmarked.</a:t>
            </a:r>
          </a:p>
        </p:txBody>
      </p:sp>
    </p:spTree>
    <p:extLst>
      <p:ext uri="{BB962C8B-B14F-4D97-AF65-F5344CB8AC3E}">
        <p14:creationId xmlns:p14="http://schemas.microsoft.com/office/powerpoint/2010/main" val="1856861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EAF43F96-D690-400C-AE16-2411C97BB89C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9558"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Plate localization is strong, and the 50-epoch run is the best checkpoint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CF015682-0B15-47BC-BCB1-97036B1F5F9D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905000"/>
            <a:ext cx="6667500" cy="33337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F28819-24F3-4812-82B4-8E37C0D632F8}"/>
              </a:ext>
            </a:extLst>
          </p:cNvPr>
          <p:cNvSpPr>
            <a:spLocks noGrp="1"/>
          </p:cNvSpPr>
          <p:nvPr/>
        </p:nvSpPr>
        <p:spPr>
          <a:xfrm>
            <a:off x="7667625" y="1524000"/>
            <a:ext cx="1762125" cy="1190625"/>
          </a:xfrm>
          <a:prstGeom prst="roundRect">
            <a:avLst>
              <a:gd name="adj" fmla="val 64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4053E8-C932-4640-BA6D-16A4997E2479}"/>
              </a:ext>
            </a:extLst>
          </p:cNvPr>
          <p:cNvSpPr>
            <a:spLocks noGrp="1"/>
          </p:cNvSpPr>
          <p:nvPr/>
        </p:nvSpPr>
        <p:spPr>
          <a:xfrm>
            <a:off x="7810500" y="17335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96.24%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428B8D-C478-4738-AE05-E6A82CD7C596}"/>
              </a:ext>
            </a:extLst>
          </p:cNvPr>
          <p:cNvSpPr>
            <a:spLocks noGrp="1"/>
          </p:cNvSpPr>
          <p:nvPr/>
        </p:nvSpPr>
        <p:spPr>
          <a:xfrm>
            <a:off x="7810500" y="2247900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mAP@0.50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06AB8C-42EF-418A-92F2-371902C51A62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762125" cy="1190625"/>
          </a:xfrm>
          <a:prstGeom prst="roundRect">
            <a:avLst>
              <a:gd name="adj" fmla="val 64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54961A-E95E-4D51-830D-96DBD96A9544}"/>
              </a:ext>
            </a:extLst>
          </p:cNvPr>
          <p:cNvSpPr>
            <a:spLocks noGrp="1"/>
          </p:cNvSpPr>
          <p:nvPr/>
        </p:nvSpPr>
        <p:spPr>
          <a:xfrm>
            <a:off x="9763125" y="17335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82.38%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0AD846-27EF-419E-897A-EFBE4644F7C5}"/>
              </a:ext>
            </a:extLst>
          </p:cNvPr>
          <p:cNvSpPr>
            <a:spLocks noGrp="1"/>
          </p:cNvSpPr>
          <p:nvPr/>
        </p:nvSpPr>
        <p:spPr>
          <a:xfrm>
            <a:off x="9763125" y="2247900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mAP@0.50:0.95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4CD8E1-4AA1-466A-894A-12247D248329}"/>
              </a:ext>
            </a:extLst>
          </p:cNvPr>
          <p:cNvSpPr>
            <a:spLocks noGrp="1"/>
          </p:cNvSpPr>
          <p:nvPr/>
        </p:nvSpPr>
        <p:spPr>
          <a:xfrm>
            <a:off x="7667625" y="3048000"/>
            <a:ext cx="1762125" cy="1190625"/>
          </a:xfrm>
          <a:prstGeom prst="roundRect">
            <a:avLst>
              <a:gd name="adj" fmla="val 64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AB3F4-C242-401C-B2C2-1A8CE0D36CCC}"/>
              </a:ext>
            </a:extLst>
          </p:cNvPr>
          <p:cNvSpPr>
            <a:spLocks noGrp="1"/>
          </p:cNvSpPr>
          <p:nvPr/>
        </p:nvSpPr>
        <p:spPr>
          <a:xfrm>
            <a:off x="7810500" y="32575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92.02%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80A493-94DA-4B8E-A90C-DDDCD3A447B5}"/>
              </a:ext>
            </a:extLst>
          </p:cNvPr>
          <p:cNvSpPr>
            <a:spLocks noGrp="1"/>
          </p:cNvSpPr>
          <p:nvPr/>
        </p:nvSpPr>
        <p:spPr>
          <a:xfrm>
            <a:off x="7810500" y="3771900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372B98-E5AE-432D-990E-18ADF5DF9A02}"/>
              </a:ext>
            </a:extLst>
          </p:cNvPr>
          <p:cNvSpPr>
            <a:spLocks noGrp="1"/>
          </p:cNvSpPr>
          <p:nvPr/>
        </p:nvSpPr>
        <p:spPr>
          <a:xfrm>
            <a:off x="9620250" y="3048000"/>
            <a:ext cx="1762125" cy="1190625"/>
          </a:xfrm>
          <a:prstGeom prst="roundRect">
            <a:avLst>
              <a:gd name="adj" fmla="val 640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251B95-46BA-4057-B31E-4D249AD5B8C5}"/>
              </a:ext>
            </a:extLst>
          </p:cNvPr>
          <p:cNvSpPr>
            <a:spLocks noGrp="1"/>
          </p:cNvSpPr>
          <p:nvPr/>
        </p:nvSpPr>
        <p:spPr>
          <a:xfrm>
            <a:off x="9763125" y="32575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91.24%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7496B4-A8A4-4BE0-96AB-D6279FA428CA}"/>
              </a:ext>
            </a:extLst>
          </p:cNvPr>
          <p:cNvSpPr>
            <a:spLocks noGrp="1"/>
          </p:cNvSpPr>
          <p:nvPr/>
        </p:nvSpPr>
        <p:spPr>
          <a:xfrm>
            <a:off x="9763125" y="3771900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25FB0C-0521-4545-82C6-84DA47DA2C6A}"/>
              </a:ext>
            </a:extLst>
          </p:cNvPr>
          <p:cNvSpPr>
            <a:spLocks noGrp="1"/>
          </p:cNvSpPr>
          <p:nvPr/>
        </p:nvSpPr>
        <p:spPr>
          <a:xfrm>
            <a:off x="7667625" y="4953000"/>
            <a:ext cx="3857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Best recorded at epoch 49. The longer 100-epoch run did not improve the stricter mAP metric.</a:t>
            </a:r>
          </a:p>
        </p:txBody>
      </p:sp>
    </p:spTree>
    <p:extLst>
      <p:ext uri="{BB962C8B-B14F-4D97-AF65-F5344CB8AC3E}">
        <p14:creationId xmlns:p14="http://schemas.microsoft.com/office/powerpoint/2010/main" val="26288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C489B0B3-A1B7-498B-BBD5-C392F1E61AD6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901"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Character detection finds symbols well but localizes them less precisely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BC3CD6FC-D84E-456D-9E53-5056A787540C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8279B0-0CB5-4D18-AF0B-0FAE45989B58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143125" cy="123825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4E65E-9316-40D8-813D-80EBFC87C8AC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809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97.93%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90F68B-746F-4C68-834D-06DB30BC58BA}"/>
              </a:ext>
            </a:extLst>
          </p:cNvPr>
          <p:cNvSpPr>
            <a:spLocks noGrp="1"/>
          </p:cNvSpPr>
          <p:nvPr/>
        </p:nvSpPr>
        <p:spPr>
          <a:xfrm>
            <a:off x="628650" y="2209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mAP@0.50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1250AC-C722-4604-9BA7-3F63FB767ED6}"/>
              </a:ext>
            </a:extLst>
          </p:cNvPr>
          <p:cNvSpPr>
            <a:spLocks noGrp="1"/>
          </p:cNvSpPr>
          <p:nvPr/>
        </p:nvSpPr>
        <p:spPr>
          <a:xfrm>
            <a:off x="2886075" y="1428750"/>
            <a:ext cx="2143125" cy="123825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A0B873-E16A-47FC-A4EE-CA3B5F4C66BD}"/>
              </a:ext>
            </a:extLst>
          </p:cNvPr>
          <p:cNvSpPr>
            <a:spLocks noGrp="1"/>
          </p:cNvSpPr>
          <p:nvPr/>
        </p:nvSpPr>
        <p:spPr>
          <a:xfrm>
            <a:off x="3057525" y="1657350"/>
            <a:ext cx="1809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63.75%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D00253-97C7-41A4-ACE1-20D021A255A1}"/>
              </a:ext>
            </a:extLst>
          </p:cNvPr>
          <p:cNvSpPr>
            <a:spLocks noGrp="1"/>
          </p:cNvSpPr>
          <p:nvPr/>
        </p:nvSpPr>
        <p:spPr>
          <a:xfrm>
            <a:off x="3057525" y="2209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mAP@0.50:0.95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838B19-6A0A-4251-8F71-1889A916A774}"/>
              </a:ext>
            </a:extLst>
          </p:cNvPr>
          <p:cNvSpPr>
            <a:spLocks noGrp="1"/>
          </p:cNvSpPr>
          <p:nvPr/>
        </p:nvSpPr>
        <p:spPr>
          <a:xfrm>
            <a:off x="457200" y="3000375"/>
            <a:ext cx="2143125" cy="123825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118DB4-2E02-4708-94A0-2D0C5E032A1D}"/>
              </a:ext>
            </a:extLst>
          </p:cNvPr>
          <p:cNvSpPr>
            <a:spLocks noGrp="1"/>
          </p:cNvSpPr>
          <p:nvPr/>
        </p:nvSpPr>
        <p:spPr>
          <a:xfrm>
            <a:off x="628650" y="3228975"/>
            <a:ext cx="1809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94.90%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62398-B6AC-44A7-AE95-7C585A8DDBC1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5A5D1B-367F-4D6D-AB12-5DC47F6C7261}"/>
              </a:ext>
            </a:extLst>
          </p:cNvPr>
          <p:cNvSpPr>
            <a:spLocks noGrp="1"/>
          </p:cNvSpPr>
          <p:nvPr/>
        </p:nvSpPr>
        <p:spPr>
          <a:xfrm>
            <a:off x="2886075" y="3000375"/>
            <a:ext cx="2143125" cy="123825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A79FCF-4363-4A3E-8F44-DA8FFAA33F75}"/>
              </a:ext>
            </a:extLst>
          </p:cNvPr>
          <p:cNvSpPr>
            <a:spLocks noGrp="1"/>
          </p:cNvSpPr>
          <p:nvPr/>
        </p:nvSpPr>
        <p:spPr>
          <a:xfrm>
            <a:off x="3057525" y="3228975"/>
            <a:ext cx="1809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94.37%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70536B-53F7-4E74-9359-EEFD8C47BE81}"/>
              </a:ext>
            </a:extLst>
          </p:cNvPr>
          <p:cNvSpPr>
            <a:spLocks noGrp="1"/>
          </p:cNvSpPr>
          <p:nvPr/>
        </p:nvSpPr>
        <p:spPr>
          <a:xfrm>
            <a:off x="3057525" y="378142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34125" y="1143000"/>
            <a:ext cx="4476750" cy="44767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20DB4D6-9821-4A92-8EF0-D7CEA7AFA915}"/>
              </a:ext>
            </a:extLst>
          </p:cNvPr>
          <p:cNvSpPr>
            <a:spLocks noGrp="1"/>
          </p:cNvSpPr>
          <p:nvPr/>
        </p:nvSpPr>
        <p:spPr>
          <a:xfrm>
            <a:off x="457200" y="5191125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Best recorded at epoch 27 across 38 digit and Arabic-letter classes.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32325C-180E-447F-AB7A-E53D6A32D5D2}"/>
              </a:ext>
            </a:extLst>
          </p:cNvPr>
          <p:cNvSpPr>
            <a:spLocks noGrp="1"/>
          </p:cNvSpPr>
          <p:nvPr/>
        </p:nvSpPr>
        <p:spPr>
          <a:xfrm>
            <a:off x="5715000" y="5810250"/>
            <a:ext cx="571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1C1C"/>
                </a:solidFill>
                <a:latin typeface="Arial"/>
                <a:ea typeface="Arial"/>
                <a:cs typeface="Arial"/>
              </a:rPr>
              <a:t>Interpretation: characters are usually detected, but tight small-object boxes remain harder at stricter IoU thresholds.</a:t>
            </a:r>
          </a:p>
        </p:txBody>
      </p:sp>
    </p:spTree>
    <p:extLst>
      <p:ext uri="{BB962C8B-B14F-4D97-AF65-F5344CB8AC3E}">
        <p14:creationId xmlns:p14="http://schemas.microsoft.com/office/powerpoint/2010/main" val="1208279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695B31B3-72FB-4869-80C0-82CEDCBC6F98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3249"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The present evidence supports component readiness—not a final ALPR claim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3B4F950-7B47-4865-BD85-4E5452BE8D6D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B493F6-0120-49D7-83AB-B4DF9C06E73E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5143500" cy="1952625"/>
          </a:xfrm>
          <a:prstGeom prst="roundRect">
            <a:avLst>
              <a:gd name="adj" fmla="val 3902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C1DD26-FF7D-45E5-B9E1-53615C2FAA0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4619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What is working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CC661-36A6-4F5B-AF60-AE133AEC9CA0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619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Reproducible data pipeline; plate detector; 38-class character detector; right-to-left decoder; API and React workbench.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BF3009-D73F-4406-BBE8-B51ADEA4BA52}"/>
              </a:ext>
            </a:extLst>
          </p:cNvPr>
          <p:cNvSpPr>
            <a:spLocks noGrp="1"/>
          </p:cNvSpPr>
          <p:nvPr/>
        </p:nvSpPr>
        <p:spPr>
          <a:xfrm>
            <a:off x="6076950" y="1333500"/>
            <a:ext cx="5143500" cy="1952625"/>
          </a:xfrm>
          <a:prstGeom prst="roundRect">
            <a:avLst>
              <a:gd name="adj" fmla="val 3902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6E24CC-84B9-470C-9447-2282370CD2E0}"/>
              </a:ext>
            </a:extLst>
          </p:cNvPr>
          <p:cNvSpPr>
            <a:spLocks noGrp="1"/>
          </p:cNvSpPr>
          <p:nvPr/>
        </p:nvSpPr>
        <p:spPr>
          <a:xfrm>
            <a:off x="6305550" y="1571625"/>
            <a:ext cx="4619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What the curves suggest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12AEF0-6D48-4328-8519-164EBDD2DD14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4619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Plate performance stabilizes early. Longer training trades recall for a small precision increase without better strict mAP.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CFD575-B6B4-487D-B325-9309D833BF2C}"/>
              </a:ext>
            </a:extLst>
          </p:cNvPr>
          <p:cNvSpPr>
            <a:spLocks noGrp="1"/>
          </p:cNvSpPr>
          <p:nvPr/>
        </p:nvSpPr>
        <p:spPr>
          <a:xfrm>
            <a:off x="457200" y="3667125"/>
            <a:ext cx="5143500" cy="1952625"/>
          </a:xfrm>
          <a:prstGeom prst="roundRect">
            <a:avLst>
              <a:gd name="adj" fmla="val 3902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36A029-200A-4F8A-A83E-3F608E30C900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619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What limits interpretation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5ED527-A45B-4C84-9435-E49D35C3BC1F}"/>
              </a:ext>
            </a:extLst>
          </p:cNvPr>
          <p:cNvSpPr>
            <a:spLocks noGrp="1"/>
          </p:cNvSpPr>
          <p:nvPr/>
        </p:nvSpPr>
        <p:spPr>
          <a:xfrm>
            <a:off x="685800" y="4448175"/>
            <a:ext cx="4619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Near duplicates and nine shared base identities across character splits can inflate validation performance.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77687D-04AE-4626-A002-4B259001D740}"/>
              </a:ext>
            </a:extLst>
          </p:cNvPr>
          <p:cNvSpPr>
            <a:spLocks noGrp="1"/>
          </p:cNvSpPr>
          <p:nvPr/>
        </p:nvSpPr>
        <p:spPr>
          <a:xfrm>
            <a:off x="6076950" y="3667125"/>
            <a:ext cx="5143500" cy="1952625"/>
          </a:xfrm>
          <a:prstGeom prst="roundRect">
            <a:avLst>
              <a:gd name="adj" fmla="val 3902"/>
            </a:avLst>
          </a:prstGeom>
          <a:solidFill>
            <a:srgbClr val="EAF2F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248C7-5BA9-417A-9775-F966B56826D2}"/>
              </a:ext>
            </a:extLst>
          </p:cNvPr>
          <p:cNvSpPr>
            <a:spLocks noGrp="1"/>
          </p:cNvSpPr>
          <p:nvPr/>
        </p:nvSpPr>
        <p:spPr>
          <a:xfrm>
            <a:off x="6305550" y="3905250"/>
            <a:ext cx="4619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9B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B1C1C"/>
                </a:solidFill>
                <a:latin typeface="Arial"/>
                <a:ea typeface="Arial"/>
                <a:cs typeface="Arial"/>
              </a:rPr>
              <a:t>What is still missing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46D92-D668-45C8-B33B-6B7B500D54B9}"/>
              </a:ext>
            </a:extLst>
          </p:cNvPr>
          <p:cNvSpPr>
            <a:spLocks noGrp="1"/>
          </p:cNvSpPr>
          <p:nvPr/>
        </p:nvSpPr>
        <p:spPr>
          <a:xfrm>
            <a:off x="6305550" y="4448175"/>
            <a:ext cx="4619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Leakage-controlled end-to-end exact match, CER, latency, FPS, and video-level robustness.</a:t>
            </a:r>
          </a:p>
        </p:txBody>
      </p:sp>
    </p:spTree>
    <p:extLst>
      <p:ext uri="{BB962C8B-B14F-4D97-AF65-F5344CB8AC3E}">
        <p14:creationId xmlns:p14="http://schemas.microsoft.com/office/powerpoint/2010/main" val="90922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81FED888-215D-46EC-9357-EDF2B36A80A2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A leakage-controlled benchmark is the next milestone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819B2896-8630-4486-9373-9AE7E84C887E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045CE8-076C-48FF-B086-8E6BBCF0B7EF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1081087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A67AE8-B796-467A-B593-2926883DE2A7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2E74B5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03A3FB-AF3D-4E7F-8005-44BED2B5077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250A83-18E0-4D1D-A572-C306640F2D09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902"/>
          </a:bodyPr>
          <a:lstStyle/>
          <a:p>
            <a:pPr algn="l">
              <a:defRPr sz="180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Freeze grouped splits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4A32B3-26B4-4B06-9E06-9E2A6637D864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238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Group by source, vehicle, and original plate identity.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BB56B6-F692-4FC0-B3CD-7B192B3B891D}"/>
              </a:ext>
            </a:extLst>
          </p:cNvPr>
          <p:cNvSpPr>
            <a:spLocks noGrp="1"/>
          </p:cNvSpPr>
          <p:nvPr/>
        </p:nvSpPr>
        <p:spPr>
          <a:xfrm>
            <a:off x="3371850" y="322897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2E74B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5DFA42-FF23-477C-88E1-9733C8F183E2}"/>
              </a:ext>
            </a:extLst>
          </p:cNvPr>
          <p:cNvSpPr>
            <a:spLocks noGrp="1"/>
          </p:cNvSpPr>
          <p:nvPr/>
        </p:nvSpPr>
        <p:spPr>
          <a:xfrm>
            <a:off x="3371850" y="2571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538635-487B-4005-89E3-11E2E96771CE}"/>
              </a:ext>
            </a:extLst>
          </p:cNvPr>
          <p:cNvSpPr>
            <a:spLocks noGrp="1"/>
          </p:cNvSpPr>
          <p:nvPr/>
        </p:nvSpPr>
        <p:spPr>
          <a:xfrm>
            <a:off x="3371850" y="3714750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80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Benchmark the cascade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E7CEB4-1188-4430-8192-43EEDA38B34F}"/>
              </a:ext>
            </a:extLst>
          </p:cNvPr>
          <p:cNvSpPr>
            <a:spLocks noGrp="1"/>
          </p:cNvSpPr>
          <p:nvPr/>
        </p:nvSpPr>
        <p:spPr>
          <a:xfrm>
            <a:off x="3371850" y="4429125"/>
            <a:ext cx="2238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Report exact match, CER, recall, FP/image, latency, and FPS.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E77D6E-F03C-4B49-BBC1-22785D7BDC9C}"/>
              </a:ext>
            </a:extLst>
          </p:cNvPr>
          <p:cNvSpPr>
            <a:spLocks noGrp="1"/>
          </p:cNvSpPr>
          <p:nvPr/>
        </p:nvSpPr>
        <p:spPr>
          <a:xfrm>
            <a:off x="6057900" y="322897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2E74B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E919AE-1CE8-438A-B5FF-F93740452C77}"/>
              </a:ext>
            </a:extLst>
          </p:cNvPr>
          <p:cNvSpPr>
            <a:spLocks noGrp="1"/>
          </p:cNvSpPr>
          <p:nvPr/>
        </p:nvSpPr>
        <p:spPr>
          <a:xfrm>
            <a:off x="6057900" y="2571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B31086-2AA5-4B49-AE36-30A4588BC981}"/>
              </a:ext>
            </a:extLst>
          </p:cNvPr>
          <p:cNvSpPr>
            <a:spLocks noGrp="1"/>
          </p:cNvSpPr>
          <p:nvPr/>
        </p:nvSpPr>
        <p:spPr>
          <a:xfrm>
            <a:off x="6057900" y="3714750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Improve hard cases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F6EDAF-E654-4CA0-9D3C-3B5A35440D12}"/>
              </a:ext>
            </a:extLst>
          </p:cNvPr>
          <p:cNvSpPr>
            <a:spLocks noGrp="1"/>
          </p:cNvSpPr>
          <p:nvPr/>
        </p:nvSpPr>
        <p:spPr>
          <a:xfrm>
            <a:off x="6057900" y="4429125"/>
            <a:ext cx="2238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Per-class balancing, tilt/night/motorcycle analysis, threshold calibration.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E0BC8-5F65-4A85-BDC5-7715E7086ADE}"/>
              </a:ext>
            </a:extLst>
          </p:cNvPr>
          <p:cNvSpPr>
            <a:spLocks noGrp="1"/>
          </p:cNvSpPr>
          <p:nvPr/>
        </p:nvSpPr>
        <p:spPr>
          <a:xfrm>
            <a:off x="8743950" y="3228975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2E74B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619EB7-6FA8-4476-AA78-A3177B391C09}"/>
              </a:ext>
            </a:extLst>
          </p:cNvPr>
          <p:cNvSpPr>
            <a:spLocks noGrp="1"/>
          </p:cNvSpPr>
          <p:nvPr/>
        </p:nvSpPr>
        <p:spPr>
          <a:xfrm>
            <a:off x="8743950" y="2571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8A5598-3360-4F25-AE55-14F8B1D748FC}"/>
              </a:ext>
            </a:extLst>
          </p:cNvPr>
          <p:cNvSpPr>
            <a:spLocks noGrp="1"/>
          </p:cNvSpPr>
          <p:nvPr/>
        </p:nvSpPr>
        <p:spPr>
          <a:xfrm>
            <a:off x="8743950" y="3714750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Optimize and learn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6DBCAD-3DA9-4F6C-92FE-2A6F75AFAB22}"/>
              </a:ext>
            </a:extLst>
          </p:cNvPr>
          <p:cNvSpPr>
            <a:spLocks noGrp="1"/>
          </p:cNvSpPr>
          <p:nvPr/>
        </p:nvSpPr>
        <p:spPr>
          <a:xfrm>
            <a:off x="8743950" y="4429125"/>
            <a:ext cx="2238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Tracking + multi-frame voting, edge export, active learning from reviews.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E94C1C-E704-4FD2-8DD4-9D071EF0FCFC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815EE9-557F-4ED7-BC7A-50C14482F8C2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88"/>
          </a:bodyPr>
          <a:lstStyle/>
          <a:p>
            <a:pPr algn="l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project has a solid, reproducible foundation and strong component metrics. Final value depends on proving full-string recognition under an unbiased test protocol.</a:t>
            </a:r>
          </a:p>
        </p:txBody>
      </p:sp>
    </p:spTree>
    <p:extLst>
      <p:ext uri="{BB962C8B-B14F-4D97-AF65-F5344CB8AC3E}">
        <p14:creationId xmlns:p14="http://schemas.microsoft.com/office/powerpoint/2010/main" val="1691206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44361940-D7A5-44CE-8156-01A7EB12983C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83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72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1BFDD6B6-B370-4A60-85C6-4763B060A6B1}"/>
              </a:ext>
            </a:extLst>
          </p:cNvPr>
          <p:cNvSpPr>
            <a:spLocks noGrp="1"/>
          </p:cNvSpPr>
          <p:nvPr/>
        </p:nvSpPr>
        <p:spPr>
          <a:xfrm>
            <a:off x="11287125" y="63055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4CFA5-A58A-4F96-BD75-B755D99DEF77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5238750" cy="466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[1] El-Adawi et al., Automated New License Plate Recognition in Egypt, 2013.</a:t>
            </a:r>
          </a:p>
          <a:p>
            <a:endParaRPr sz="1425" b="0">
              <a:solidFill>
                <a:srgbClr val="0B1725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[2] Abd El Rahman et al., Automatic Arabic Number Plate Recognition, 2013.</a:t>
            </a:r>
          </a:p>
          <a:p>
            <a:endParaRPr sz="1425" b="0">
              <a:solidFill>
                <a:srgbClr val="0B1725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[3] Redmon et al., You Only Look Once, CVPR 2016.</a:t>
            </a:r>
          </a:p>
          <a:p>
            <a:endParaRPr sz="1425" b="0">
              <a:solidFill>
                <a:srgbClr val="0B1725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[4] Masood et al., License Plate Detection and Recognition Using Deeply Learned CNNs, 2017.</a:t>
            </a:r>
          </a:p>
          <a:p>
            <a:endParaRPr sz="1425" b="0">
              <a:solidFill>
                <a:srgbClr val="0B1725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[5] Shi et al., CRNN for Image-Based Sequence Recognition, TPAMI 2017.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A9C2D-9D17-4C34-AC48-9AC08D71228A}"/>
              </a:ext>
            </a:extLst>
          </p:cNvPr>
          <p:cNvSpPr>
            <a:spLocks noGrp="1"/>
          </p:cNvSpPr>
          <p:nvPr/>
        </p:nvSpPr>
        <p:spPr>
          <a:xfrm>
            <a:off x="6238875" y="1190625"/>
            <a:ext cx="5334000" cy="466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[6] Youssef et al., A New Benchmark Dataset for Egyptian LPR, ACIRS 2022.</a:t>
            </a:r>
          </a:p>
          <a:p>
            <a:endParaRPr sz="1425" b="0">
              <a:solidFill>
                <a:srgbClr val="0B1725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[7] Youssef et al., Real-time Egyptian LPR using YOLO, IJACSA 2022.</a:t>
            </a:r>
          </a:p>
          <a:p>
            <a:endParaRPr sz="1425" b="0">
              <a:solidFill>
                <a:srgbClr val="0B1725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[8] Abdellatif et al., Low-Cost IoT-Based Arabic LPR, ASEJ 2023.</a:t>
            </a:r>
          </a:p>
          <a:p>
            <a:endParaRPr sz="1425" b="0">
              <a:solidFill>
                <a:srgbClr val="0B1725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[9] Ultralytics, YOLO11 and performance-metrics documentation.</a:t>
            </a:r>
          </a:p>
          <a:p>
            <a:endParaRPr sz="1425" b="0">
              <a:solidFill>
                <a:srgbClr val="0B1725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0B172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725"/>
                </a:solidFill>
                <a:latin typeface="Arial"/>
                <a:ea typeface="Arial"/>
                <a:cs typeface="Arial"/>
              </a:rPr>
              <a:t>[10] EALPR dataset repository and Roboflow Egyptian character dataset.</a:t>
            </a:r>
          </a:p>
        </p:txBody>
      </p:sp>
    </p:spTree>
    <p:extLst>
      <p:ext uri="{BB962C8B-B14F-4D97-AF65-F5344CB8AC3E}">
        <p14:creationId xmlns:p14="http://schemas.microsoft.com/office/powerpoint/2010/main" val="859537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Microsoft Office PowerPoint</Application>
  <DocSecurity>0</DocSecurity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2026-08-01T17:49:52Z</dcterms:created>
  <dcterms:modified xsi:type="dcterms:W3CDTF">2026-08-02T05:53:27Z</dcterms:modified>
</cp:coreProperties>
</file>